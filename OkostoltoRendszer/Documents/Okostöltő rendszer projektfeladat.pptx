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78" r:id="rId3"/>
    <p:sldId id="267" r:id="rId4"/>
    <p:sldId id="259" r:id="rId5"/>
    <p:sldId id="261" r:id="rId6"/>
    <p:sldId id="260" r:id="rId7"/>
    <p:sldId id="262" r:id="rId8"/>
    <p:sldId id="268" r:id="rId9"/>
    <p:sldId id="263" r:id="rId10"/>
    <p:sldId id="266" r:id="rId11"/>
    <p:sldId id="265" r:id="rId12"/>
    <p:sldId id="270" r:id="rId13"/>
    <p:sldId id="264" r:id="rId14"/>
    <p:sldId id="269" r:id="rId15"/>
    <p:sldId id="271" r:id="rId16"/>
    <p:sldId id="272" r:id="rId17"/>
    <p:sldId id="273" r:id="rId18"/>
    <p:sldId id="274" r:id="rId19"/>
    <p:sldId id="280" r:id="rId20"/>
    <p:sldId id="279" r:id="rId21"/>
    <p:sldId id="277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3" autoAdjust="0"/>
    <p:restoredTop sz="94660"/>
  </p:normalViewPr>
  <p:slideViewPr>
    <p:cSldViewPr snapToGrid="0">
      <p:cViewPr varScale="1">
        <p:scale>
          <a:sx n="61" d="100"/>
          <a:sy n="61" d="100"/>
        </p:scale>
        <p:origin x="100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2F090-B732-4E76-9612-7FEBB4F7CCA6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0E1B7B-1D52-4217-BABE-FEAFB1F2E4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1901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0E1B7B-1D52-4217-BABE-FEAFB1F2E4F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81619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509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1080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33914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066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40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70886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334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4083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1670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1789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07712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384352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550628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2738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84241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46361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3586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49F1056A-2FA6-48E6-AA79-5E4BB0743537}" type="datetimeFigureOut">
              <a:rPr lang="hu-HU" smtClean="0"/>
              <a:t>2026. 01. 11.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08525ADF-AC55-4CAA-89DF-841BF150E89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55952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55FB75-F50B-99F4-17A1-68413EF886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Okostöltő rendszer projektfeladat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460BE502-B90B-1B35-7E80-5B9153DD9C8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tx1">
                    <a:lumMod val="95000"/>
                  </a:schemeClr>
                </a:solidFill>
              </a:rPr>
              <a:t>Készítette: Kovács Máté, Kovács Armand, Hencz Norbert, Györgyi Viktor</a:t>
            </a:r>
          </a:p>
        </p:txBody>
      </p:sp>
    </p:spTree>
    <p:extLst>
      <p:ext uri="{BB962C8B-B14F-4D97-AF65-F5344CB8AC3E}">
        <p14:creationId xmlns:p14="http://schemas.microsoft.com/office/powerpoint/2010/main" val="16551436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F2B1DF-1994-1923-A5B6-6C319864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636DE13-9C5B-40F0-FF2E-3F8E0467C6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4E616FB-EF9F-E745-5288-334B0C4BB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Alapötlet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F6EA583-9ECA-1DE8-F833-8D1108EC3E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732C1FF-9E50-53EC-336B-B5579107A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E3058A3-E9DD-73DE-FD4C-AE7B7BAB5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122DC56-E6DD-BD0A-88A9-BAEB46AFAB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1D5F840-4BFD-25D2-084D-01477B7902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FD23091-C922-055E-31CE-AA0E66010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8ECE566-11E4-42F4-7E31-7011C4A7C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5023" y="1275958"/>
            <a:ext cx="8534400" cy="3615267"/>
          </a:xfrm>
        </p:spPr>
        <p:txBody>
          <a:bodyPr>
            <a:normAutofit/>
          </a:bodyPr>
          <a:lstStyle/>
          <a:p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Városi elektromos autótöltés szimulációja</a:t>
            </a:r>
          </a:p>
          <a:p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Java-alapú, konzolos alkalmazás</a:t>
            </a:r>
          </a:p>
          <a:p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Offline működés</a:t>
            </a:r>
          </a:p>
          <a:p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Felhasználóbarát, </a:t>
            </a:r>
            <a:r>
              <a:rPr lang="hu-HU" sz="3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menüvezérelt</a:t>
            </a:r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működés</a:t>
            </a:r>
          </a:p>
        </p:txBody>
      </p:sp>
    </p:spTree>
    <p:extLst>
      <p:ext uri="{BB962C8B-B14F-4D97-AF65-F5344CB8AC3E}">
        <p14:creationId xmlns:p14="http://schemas.microsoft.com/office/powerpoint/2010/main" val="1245661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9D33F4-C70A-AC90-76E8-DBC537D91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41B0A96-2105-3A05-FC79-E0065542B2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92B6F48-BE35-D2DB-E583-804611901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Rendszer célja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ADC47F1-AC7F-8AE0-6D9C-A76EA29023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E4D80FC-532E-52AA-4EC5-AE3BEBBFC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097C10A-601A-00FF-8C3B-AC3674DC5D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B0E8F10-B32A-2E49-5A8F-E760316235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14869A3-BE8A-207F-3ED7-95D72A3A7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1DB132B-F79F-F760-2E53-774A39D79B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D6224D-0CFA-A878-B2FB-9099D69B6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2068511"/>
            <a:ext cx="10231440" cy="3615267"/>
          </a:xfrm>
        </p:spPr>
        <p:txBody>
          <a:bodyPr>
            <a:normAutofit fontScale="92500" lnSpcReduction="20000"/>
          </a:bodyPr>
          <a:lstStyle/>
          <a:p>
            <a:r>
              <a:rPr 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Városi elektromos járművek töltésének szimulálása.</a:t>
            </a:r>
          </a:p>
          <a:p>
            <a:r>
              <a:rPr 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Felhasználóbarát CLI felület, nincs szükség szakmai ismeretekre.</a:t>
            </a:r>
          </a:p>
          <a:p>
            <a:r>
              <a:rPr 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Többféle töltési mód: lassú, normál 2x, gyors 2x, ultragyors.</a:t>
            </a:r>
          </a:p>
          <a:p>
            <a:r>
              <a:rPr 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Kedvezmények bizonyos autómárkák számára (Tesla, Volkswagen, Hyundai).</a:t>
            </a:r>
          </a:p>
          <a:p>
            <a:r>
              <a:rPr 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Töltés automatikus leállítása és árkalkuláció.</a:t>
            </a:r>
          </a:p>
          <a:p>
            <a:r>
              <a:rPr 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Napi statisztikák készítése.</a:t>
            </a:r>
          </a:p>
          <a:p>
            <a:r>
              <a:rPr 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Minden adat helyben, offline kerül feldolgozásra és .</a:t>
            </a:r>
            <a:r>
              <a:rPr lang="hu-HU" sz="28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txt</a:t>
            </a:r>
            <a:r>
              <a:rPr 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fájlba mentésre.</a:t>
            </a:r>
          </a:p>
        </p:txBody>
      </p:sp>
    </p:spTree>
    <p:extLst>
      <p:ext uri="{BB962C8B-B14F-4D97-AF65-F5344CB8AC3E}">
        <p14:creationId xmlns:p14="http://schemas.microsoft.com/office/powerpoint/2010/main" val="303569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5AE446-BE3A-F5BC-0B9C-E0450D104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87BCB2-731E-D99B-C8FD-8CC0FD624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593249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Rendszer felépítése</a:t>
            </a:r>
          </a:p>
        </p:txBody>
      </p:sp>
      <p:pic>
        <p:nvPicPr>
          <p:cNvPr id="3" name="Kép 2" descr="A képen szöveg, képernyőkép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2C44EBBF-489B-D429-47C1-19035DA1B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3711" y="2100316"/>
            <a:ext cx="3665730" cy="3575884"/>
          </a:xfrm>
          <a:prstGeom prst="rect">
            <a:avLst/>
          </a:prstGeom>
          <a:effectLst>
            <a:innerShdw blurRad="57150" dist="38100" dir="14460000">
              <a:prstClr val="black">
                <a:alpha val="70000"/>
              </a:prstClr>
            </a:innerShdw>
          </a:effec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55661B6-D379-632C-8D61-76C7B6FDC12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470634" y="2100316"/>
            <a:ext cx="6385035" cy="357588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 fontScale="70000" lnSpcReduction="20000"/>
          </a:bodyPr>
          <a:lstStyle/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hu-HU" altLang="hu-HU" sz="4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 különböző típusú port: minden port egy autót tud kiszolgálni.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hu-HU" altLang="hu-HU" sz="4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 egy port foglalt, új töltés nem indítható az adott időintervallumban.</a:t>
            </a: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hu-HU" altLang="hu-HU" sz="4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 típusok és sebességek:</a:t>
            </a: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hu-HU" altLang="hu-HU" sz="45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hu-HU" altLang="hu-HU" sz="45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Normal</a:t>
            </a:r>
            <a:endParaRPr lang="hu-HU" altLang="hu-HU" sz="4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hu-HU" altLang="hu-HU" sz="45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Slow</a:t>
            </a:r>
            <a:endParaRPr lang="hu-HU" altLang="hu-HU" sz="4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defTabSz="914400" eaLnBrk="0" fontAlgn="base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</a:pPr>
            <a:r>
              <a:rPr lang="hu-HU" altLang="hu-HU" sz="45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</a:t>
            </a:r>
            <a:endParaRPr lang="hu-HU" altLang="hu-HU" sz="45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90000"/>
              </a:lnSpc>
              <a:spcBef>
                <a:spcPct val="0"/>
              </a:spcBef>
              <a:buClrTx/>
              <a:buSzTx/>
              <a:buFontTx/>
              <a:buChar char="•"/>
              <a:tabLst/>
            </a:pPr>
            <a:r>
              <a:rPr kumimoji="0" lang="hu-HU" altLang="hu-HU" sz="4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Ultra </a:t>
            </a:r>
            <a:r>
              <a:rPr kumimoji="0" lang="hu-HU" altLang="hu-HU" sz="45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Fast</a:t>
            </a:r>
            <a:endParaRPr kumimoji="0" lang="hu-HU" altLang="hu-HU" b="0" i="0" u="none" strike="noStrike" cap="none" normalizeH="0" baseline="0" dirty="0">
              <a:ln>
                <a:noFill/>
              </a:ln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1294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ECF28D-CEFE-C958-0C98-F22C1F98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2EA71E-1226-FAB7-72D5-78179AF1A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8E143D0-475F-5A52-ED9C-BB879BCF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Kedvezmények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A5FD41B-FFDF-710F-206F-804C05A0C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3EA2994-7C81-2E70-54C9-90361B7C50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15CD264-B092-899D-721A-84CA970229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C4F43A4-0EC8-799B-EFA3-6512730CF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8884608-017A-37EE-982C-5BEAE430A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7081F26-D7D1-090F-0F9D-5F5549C7E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27D0ACCE-4CFA-3F9B-9561-F28C5F48C4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2" y="2245599"/>
            <a:ext cx="6014532" cy="23668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Tesla, Volkswagen, Hyundai</a:t>
            </a:r>
          </a:p>
          <a:p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20%-os automatikus kedvezmény</a:t>
            </a:r>
          </a:p>
          <a:p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Fizetéskor érvényesül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hu-HU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843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343B0A-D8BD-750E-0CA9-FDF1471F7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CF4D82-9012-A5C6-A09C-14B610DA9C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61A202A-22BC-8906-E168-0A07682D2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Felhasználói bemenet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5F672A3-ACEA-A021-FEBA-2A14E0FCC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0D78348-F546-E0F8-9572-1B4E139E0C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62C2C3-B548-1C09-E287-BC989B83FA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88E390D-DD61-3F74-491F-85FAD08658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7DB1DA5-39C2-3B3B-8FD0-555D29F72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ABD6B11-29D6-04C6-FAED-C46FED894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280FAD8F-F091-14DC-F074-09449163F9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3" y="2213898"/>
            <a:ext cx="10588668" cy="3323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Formátum: </a:t>
            </a:r>
            <a:r>
              <a:rPr kumimoji="0" lang="hu-HU" altLang="hu-HU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AutóID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Márka, </a:t>
            </a:r>
            <a:r>
              <a:rPr kumimoji="0" lang="hu-HU" altLang="hu-HU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Portszám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(1-6), Kezdés, Töltési idő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Példa: AAA111, Ford, 1, 2006-12-18 09:06, 60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Speciális parancsok: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exit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kilépés és adatok kiírása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pay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fizetés jóváhagyása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cancel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fizetés megszakítása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9919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7C6F06-7143-8390-1753-7C79C4C68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DE67B3-2FF5-55B2-B8D2-D65BD58E88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58D534B-1F25-8A60-7B42-A65D4EC34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Hibakezelés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EC1EE92-14FB-81C1-3CFB-E128DC8D5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2CC9EA5-A93D-0E27-5A5D-0C6DBD05BD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D026435-945A-A300-4370-3C863F56EC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8717F2D-4B7F-5D53-24F5-8FF1D26972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AB24CF2-C000-2758-A370-9E72A82E6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407C6BA-E8F3-54A0-8A00-849F51C5DB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1">
            <a:extLst>
              <a:ext uri="{FF2B5EF4-FFF2-40B4-BE49-F238E27FC236}">
                <a16:creationId xmlns:a16="http://schemas.microsoft.com/office/drawing/2014/main" id="{353652D2-4A12-F3B0-4DC5-670875FA2BC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2" y="2510888"/>
            <a:ext cx="1058862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Figyelmeztetés foglalt port esetén.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Hibás dátumformátum vagy időrendi eltérés.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Saját Exception</a:t>
            </a:r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használata</a:t>
            </a:r>
            <a:endParaRPr kumimoji="0" lang="hu-HU" altLang="hu-HU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047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D48C35-10B3-9C21-E7D7-BE32B86E1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AFEBA8-5BBF-9C78-1226-C3AC729D4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63844E3-3C81-1023-486A-B63C756A3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Statisztika és naplózás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14991C-25B0-4C45-3558-458C11F439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A89F35E-4E31-4576-86BD-EEEE821095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5CF7E76-49AB-21E4-3314-F716C69DF6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610CC68-A983-BF22-D234-6608AD69D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AD301C-CAE4-B76C-8E82-09B7048DFA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C1AB2A-BC9B-5442-2077-276B711247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1">
            <a:extLst>
              <a:ext uri="{FF2B5EF4-FFF2-40B4-BE49-F238E27FC236}">
                <a16:creationId xmlns:a16="http://schemas.microsoft.com/office/drawing/2014/main" id="{37A2387F-B45A-563B-40B9-6DFFAB655CD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2" y="2277533"/>
            <a:ext cx="10588626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Napi statisztikák mentése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Szöveges (.</a:t>
            </a:r>
            <a:r>
              <a:rPr lang="hu-HU" altLang="hu-HU" sz="3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txt</a:t>
            </a:r>
            <a:r>
              <a:rPr lang="hu-HU" alt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fájl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Offline adatkezelés</a:t>
            </a:r>
          </a:p>
        </p:txBody>
      </p:sp>
    </p:spTree>
    <p:extLst>
      <p:ext uri="{BB962C8B-B14F-4D97-AF65-F5344CB8AC3E}">
        <p14:creationId xmlns:p14="http://schemas.microsoft.com/office/powerpoint/2010/main" val="1044294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C91DD4-190B-A626-EBFA-011FE498E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1DFC581-F0B7-66C9-9F76-FAED74F738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513268B-B375-C703-D865-635DBE307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Fejlesztési környezet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56F96E8-7FE7-17D3-EE59-66387960DD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5A0F1E2-E63E-25FA-3C69-1D7E326657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7FAE957-529E-7CF5-7435-E3680C9DD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64E3B71-8297-EC20-681B-8BFBC2D7F8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D67A072-1327-F9B7-1473-B48778CB9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AF35E87-A06E-DDBB-2484-D439E3969B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1">
            <a:extLst>
              <a:ext uri="{FF2B5EF4-FFF2-40B4-BE49-F238E27FC236}">
                <a16:creationId xmlns:a16="http://schemas.microsoft.com/office/drawing/2014/main" id="{C88CBD49-A9FA-6B50-AFC7-D9C0A595FDD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3" y="1932282"/>
            <a:ext cx="9367308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Operációs rendszer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Windows 10 vagy újabb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Fejlesztőkörnyezet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kumimoji="0" lang="hu-HU" altLang="hu-HU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IntelliJ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lang="hu-HU" altLang="hu-HU" sz="3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Community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Edition 24.3.0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Programozási nyelv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Java 19 vagy újabb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hu-HU" altLang="hu-HU" sz="32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lang="hu-HU" alt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és </a:t>
            </a:r>
            <a:r>
              <a:rPr lang="hu-HU" altLang="hu-HU" sz="32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Trello</a:t>
            </a:r>
            <a:r>
              <a:rPr lang="hu-HU" altLang="hu-HU" sz="320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hu-HU" alt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használata</a:t>
            </a:r>
            <a:endParaRPr kumimoji="0" lang="hu-HU" altLang="hu-HU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908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138537-082D-448E-C230-CA5AEF9B6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893BE27-BDB7-5727-59CD-EAF58C97A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95F372A-AA07-3E7E-D5E7-B4BAABB9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Munkaidő nyilvántartás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628671-2353-05C5-D112-F70FFFB3A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066D781-C577-4F14-0C83-F1498D795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17BE192-5967-404E-1ED7-BD2A99EDD4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D7DEB9C-6057-E8D2-19EE-1D31AB00F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30A0483-DE78-8FC3-8366-5A70AB2197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D22717-588B-EC9E-27D2-47DD1F8CCD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1">
            <a:extLst>
              <a:ext uri="{FF2B5EF4-FFF2-40B4-BE49-F238E27FC236}">
                <a16:creationId xmlns:a16="http://schemas.microsoft.com/office/drawing/2014/main" id="{9A163E84-3E1E-F8BB-C066-6DC62D073E7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3" y="2167723"/>
            <a:ext cx="9755716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Agilis szemlélet: folyamatos egyeztetés, rugalmas feladatmegosztás.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Eszközök: Windows 10/11, </a:t>
            </a:r>
            <a:r>
              <a:rPr kumimoji="0" lang="hu-HU" altLang="hu-HU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IntelliJ</a:t>
            </a:r>
            <a:r>
              <a:rPr kumimoji="0" lang="hu-HU" altLang="hu-HU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kumimoji="0" lang="hu-HU" altLang="hu-HU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kumimoji="0" lang="hu-HU" altLang="hu-HU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verziókezelés, </a:t>
            </a:r>
            <a:r>
              <a:rPr kumimoji="0" lang="hu-HU" altLang="hu-HU" sz="3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Trello</a:t>
            </a:r>
            <a:r>
              <a:rPr kumimoji="0" lang="hu-HU" altLang="hu-HU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feladatkezelés.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Fejlesztési folyamat: követelmények → tervezés → megvalósítás → tesztelés → hibajavítás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3986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A1FC69-4B45-E9A9-CD9F-1BDEAD9BA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AC1BC63-A2C7-9ECA-64D3-7AAE8F0F2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951E5A9-8601-5EF0-154D-A30AB18801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Felhasználói útmutató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4F3921-EDA6-B416-C85C-C8E50E49D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1FC0464-123A-CE77-5237-3B63CCA7B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3207821-E55D-8F5E-B1E1-BDC1675BFE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24C7DF1-0465-BB6F-E274-2368A045C7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6A67745-5818-B098-E942-1F22D39EE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8CFBC2-D3A4-F26C-C07C-92359837D5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Szövegdoboz 4">
            <a:extLst>
              <a:ext uri="{FF2B5EF4-FFF2-40B4-BE49-F238E27FC236}">
                <a16:creationId xmlns:a16="http://schemas.microsoft.com/office/drawing/2014/main" id="{E167C12B-9699-94A0-8FA5-41EC200D75F3}"/>
              </a:ext>
            </a:extLst>
          </p:cNvPr>
          <p:cNvSpPr txBox="1"/>
          <p:nvPr/>
        </p:nvSpPr>
        <p:spPr>
          <a:xfrm>
            <a:off x="708513" y="2140327"/>
            <a:ext cx="802558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Könnyen kezelhető CLI felület.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Portokhoz csatlakoztatás és töltés kiválasztása.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Kedvezmények automatikusan érvényesülnek.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Maximális töltési idő 2 óra.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Hibás bevitel esetén a program figyelmeztet, újra kéri az adatot.</a:t>
            </a:r>
          </a:p>
        </p:txBody>
      </p:sp>
    </p:spTree>
    <p:extLst>
      <p:ext uri="{BB962C8B-B14F-4D97-AF65-F5344CB8AC3E}">
        <p14:creationId xmlns:p14="http://schemas.microsoft.com/office/powerpoint/2010/main" val="505246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679BA5-8EEB-6C1F-FD45-141980D38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EB90296-CFE0-401D-9CA3-32966EC4F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8C9B4EE-7611-4ED9-B356-7BDD377C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A4F266A-F2F7-47CD-8BBC-E3777E982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0D69C80-8919-4A32-B897-F2A21F940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427B072-CC5B-481B-9719-8CD4C54444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4609862E-48F9-45AC-8D44-67A0268A7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5" y="2"/>
            <a:ext cx="12192000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2" name="Snip Diagonal Corner Rectangle 6">
            <a:extLst>
              <a:ext uri="{FF2B5EF4-FFF2-40B4-BE49-F238E27FC236}">
                <a16:creationId xmlns:a16="http://schemas.microsoft.com/office/drawing/2014/main" id="{2D5EEA8B-2D86-4D1D-96B3-6B82903037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25" y="2"/>
            <a:ext cx="12191075" cy="6857998"/>
          </a:xfrm>
          <a:prstGeom prst="snip2DiagRect">
            <a:avLst>
              <a:gd name="adj1" fmla="val 0"/>
              <a:gd name="adj2" fmla="val 37605"/>
            </a:avLst>
          </a:prstGeom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A24E136-CFAE-5FAD-4832-A115193D8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5645" y="685799"/>
            <a:ext cx="8001000" cy="297180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 sz="4800" dirty="0"/>
              <a:t>Tesztelt program:</a:t>
            </a:r>
            <a:br>
              <a:rPr lang="hu-HU" sz="4800" dirty="0"/>
            </a:br>
            <a:r>
              <a:rPr lang="hu-HU" sz="4800" dirty="0"/>
              <a:t>	</a:t>
            </a:r>
            <a:r>
              <a:rPr lang="hu" sz="4800" dirty="0"/>
              <a:t>Bérleti szerződés 					manager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3818968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267F90-2B42-D346-2671-74A4A9925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36BB284-CC7A-AE37-C678-00F9AF98E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D13896A-5539-91B6-9F17-F6CB4352F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Tesztelt rendszer bemutatása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9CEB27-0771-766A-E39C-946F02FCC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A80F1DB-67E1-7CDD-3154-6F532E855E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2225188-0B54-CA3C-19FB-0513D1A0B5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1AA704B-20BA-6B83-A58E-61674B3F2F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7357B23-2D88-46AB-CE50-41EE438964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7BE2C1D-FC8E-8E1A-5431-DDF4D47AB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Rectangle 3">
            <a:extLst>
              <a:ext uri="{FF2B5EF4-FFF2-40B4-BE49-F238E27FC236}">
                <a16:creationId xmlns:a16="http://schemas.microsoft.com/office/drawing/2014/main" id="{70459DBA-4F5D-F624-267E-C086A93BF46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2" y="1849990"/>
            <a:ext cx="11331885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Ingatlanbérleti szerződések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Bérlői, bérbeadói és pénzügyi adatok nyilvántartása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Fájlalapú adatkezelés (betöltés, mentés)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Üzleti szabály: egy ingatlan egy időszakban csak egyszer bérelhető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Szerződések kezelése és keresése bérlő neve alapján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Lejáró szerződések jelzése, statisztikák készítése</a:t>
            </a:r>
          </a:p>
        </p:txBody>
      </p:sp>
    </p:spTree>
    <p:extLst>
      <p:ext uri="{BB962C8B-B14F-4D97-AF65-F5344CB8AC3E}">
        <p14:creationId xmlns:p14="http://schemas.microsoft.com/office/powerpoint/2010/main" val="3046329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037AE3-F198-43AE-B648-1FDB162AF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CCB4192-2F9D-019E-6A13-6287245F11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8F9FE897-5A06-FC86-DD82-83030A281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Tesztelés célja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D73A61B-EBC3-4D59-88A8-8051A495EE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8A95B6A-B8A7-A566-FD9A-12DD47523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48A3240-1E36-45A6-98B7-0843212D7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F14B4D2-BF1E-1E43-7262-6ED5897A6E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082F410-0466-762D-0741-526DFF5557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4B3AAF-F8BA-FE7C-3673-AB2E66491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A0DD7AD4-0483-C2ED-BC34-7EEE87CA40F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2" y="2700075"/>
            <a:ext cx="10003379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Követelmények ellenőrzése</a:t>
            </a:r>
            <a:endParaRPr lang="hu-HU" altLang="hu-HU" sz="28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hu-HU" alt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Hibás és határérték bemenetek megfelelő kezelésének ellenőrzése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hu-HU" alt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 adatkezelés és fájlmentés megbízhatóságának vizsgálata</a:t>
            </a:r>
          </a:p>
          <a:p>
            <a:pPr marL="0" lv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hu-HU" altLang="hu-HU" sz="2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rendszer stabilitásának és használhatóságának biztosítása</a:t>
            </a:r>
          </a:p>
        </p:txBody>
      </p:sp>
    </p:spTree>
    <p:extLst>
      <p:ext uri="{BB962C8B-B14F-4D97-AF65-F5344CB8AC3E}">
        <p14:creationId xmlns:p14="http://schemas.microsoft.com/office/powerpoint/2010/main" val="1727218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D130C-35F3-288C-7EC1-6B12B25C0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B840B19-7556-851D-65C8-1F77D4619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558D9314-D9FB-5F59-D43F-492F31F6C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Specifikáció felülvizsgálata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C8F0D41-CE42-866C-6AAA-6D4A91D85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FEEAF84-ADD9-9F39-FB1E-F9B5E88CC9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CE6A0CD-78DD-98B9-B287-BF56665CFE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CF46726-C852-7E04-E473-F897CCA728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BA3103A-E858-6485-B608-D286F7E03F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F954D6D-E6A5-B066-1E01-0E44E7E1E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185C69D7-FE5C-6442-1B2B-98AAAD8745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2" y="2080014"/>
            <a:ext cx="5927969" cy="1766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hu-HU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Nem egyértelmű követelmények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hu-HU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Tesztelhetőség javítása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hu-HU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Hiányzó korlátok feltárása</a:t>
            </a:r>
            <a:endParaRPr kumimoji="0" lang="hu-HU" altLang="hu-HU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747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2067C9-FA78-8D00-89F4-C0718ED18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627972-80B7-4785-0600-CBD91D31E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2681" y="498656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Tesztelési módszerek</a:t>
            </a:r>
          </a:p>
        </p:txBody>
      </p:sp>
      <p:pic>
        <p:nvPicPr>
          <p:cNvPr id="3" name="Kép helye 5">
            <a:extLst>
              <a:ext uri="{FF2B5EF4-FFF2-40B4-BE49-F238E27FC236}">
                <a16:creationId xmlns:a16="http://schemas.microsoft.com/office/drawing/2014/main" id="{4F19D4EA-B1F1-0DE9-4943-82436C399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681" y="2181467"/>
            <a:ext cx="4674358" cy="3575884"/>
          </a:xfrm>
          <a:prstGeom prst="rect">
            <a:avLst/>
          </a:prstGeom>
          <a:effectLst>
            <a:innerShdw blurRad="57150" dist="38100" dir="14460000">
              <a:prstClr val="black">
                <a:alpha val="70000"/>
              </a:prstClr>
            </a:innerShdw>
          </a:effec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0E0FF52-A1B2-C666-3E30-9137B2D26E5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94702" y="2181467"/>
            <a:ext cx="4419171" cy="357588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457200" rtl="0" eaLnBrk="1" fontAlgn="auto" latinLnBrk="0" hangingPunct="1"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hu-HU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Egységtesztelés</a:t>
            </a:r>
          </a:p>
          <a:p>
            <a:pPr marL="342900" marR="0" lvl="0" indent="-342900" defTabSz="457200" rtl="0" eaLnBrk="1" fontAlgn="auto" latinLnBrk="0" hangingPunct="1"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hu-HU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Integrációs tesztelés</a:t>
            </a:r>
          </a:p>
          <a:p>
            <a:pPr marL="342900" marR="0" lvl="0" indent="-342900" defTabSz="457200" rtl="0" eaLnBrk="1" fontAlgn="auto" latinLnBrk="0" hangingPunct="1"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hu-HU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Funkcionális tesztelés</a:t>
            </a:r>
            <a:endParaRPr kumimoji="0" lang="hu-HU" altLang="hu-HU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2405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2A6504-1B4E-02D6-77FB-9864978C4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E3DB559-B160-57A6-45BC-2E08DB6DD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DC89A97-6133-1DDF-90AE-E37DE00A4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Teszttervezési technikák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E49C35-A768-1F4D-A875-F85F31466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B4504AB-8BEF-7355-0FF8-9FD76D9F43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3130DF-ACB5-A991-B8BA-2E9F12B44A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9CD545E-E7B7-081D-DB57-5C2B74FC4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078B8C9-74AA-6C82-FF27-8B10A1383A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AE07C43-165D-C05A-030E-5A62CD3274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A8617AE4-075E-1970-A343-6AF2C27522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4212" y="1950748"/>
            <a:ext cx="4190378" cy="20251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hu-HU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Ekvivalencia osztályok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hu-HU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Határérték-analízis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hu-HU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Ok–hatás analízis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endParaRPr kumimoji="0" lang="hu-HU" altLang="hu-HU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5492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4C61F8-0B4F-E2EC-F0D1-77D851CD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35B3C9-CE4C-0B96-0D7E-CC6A3FF8C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7B32439-42E9-8F18-6054-D6C2D11F1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Tesztelési eredmények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0E79F7C-5B6F-3E92-93DE-7338E25617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F6A11CD-3DAD-F906-3472-E1E987B488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EBA6DB0-889E-3E20-F6B9-F4A80625C2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11D894E-DD58-1FB2-3CF9-5E3E6CE1C1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14C400C-AF77-6D47-E530-3764DC9FA0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DE4C5F-E046-692C-475D-156C1160E4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Rectangle 1">
            <a:extLst>
              <a:ext uri="{FF2B5EF4-FFF2-40B4-BE49-F238E27FC236}">
                <a16:creationId xmlns:a16="http://schemas.microsoft.com/office/drawing/2014/main" id="{715BB4BE-4005-3C83-FF40-EE289D7C5F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90339" y="1845015"/>
            <a:ext cx="10407080" cy="29484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>
              <a:spcAft>
                <a:spcPts val="0"/>
              </a:spcAft>
              <a:buClrTx/>
              <a:buSzTx/>
              <a:buFont typeface="Arial"/>
              <a:buChar char="•"/>
            </a:pPr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3-szor lett visszaküldve a program javításra</a:t>
            </a:r>
          </a:p>
          <a:p>
            <a:pPr marL="342900" indent="-342900">
              <a:spcAft>
                <a:spcPts val="0"/>
              </a:spcAft>
              <a:buClrTx/>
              <a:buSzTx/>
              <a:buFont typeface="Arial"/>
              <a:buChar char="•"/>
            </a:pPr>
            <a:r>
              <a:rPr lang="hu-HU" alt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Hangsúlyt fektettünk a hibakezelésre is</a:t>
            </a:r>
          </a:p>
          <a:p>
            <a:pPr marL="342900" indent="-342900">
              <a:spcAft>
                <a:spcPts val="0"/>
              </a:spcAft>
              <a:buClrTx/>
              <a:buSzTx/>
              <a:buFont typeface="Arial"/>
              <a:buChar char="•"/>
            </a:pPr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Kritikus hiba nem volt</a:t>
            </a:r>
          </a:p>
          <a:p>
            <a:pPr marL="342900" lvl="0" indent="-342900">
              <a:spcAft>
                <a:spcPts val="0"/>
              </a:spcAft>
              <a:buClrTx/>
              <a:buSzTx/>
              <a:buFont typeface="Arial"/>
              <a:buChar char="•"/>
            </a:pPr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Kiváló kommunikáció a két csapat között</a:t>
            </a:r>
          </a:p>
          <a:p>
            <a:pPr marL="342900" lvl="0" indent="-342900">
              <a:spcAft>
                <a:spcPts val="0"/>
              </a:spcAft>
              <a:buClrTx/>
              <a:buSzTx/>
              <a:buFont typeface="Arial"/>
              <a:buChar char="•"/>
            </a:pPr>
            <a:r>
              <a:rPr 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Az összes hibát sikerült feltárni -&gt;  kijavítottak minden hibát</a:t>
            </a:r>
          </a:p>
        </p:txBody>
      </p:sp>
    </p:spTree>
    <p:extLst>
      <p:ext uri="{BB962C8B-B14F-4D97-AF65-F5344CB8AC3E}">
        <p14:creationId xmlns:p14="http://schemas.microsoft.com/office/powerpoint/2010/main" val="1729529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1E0A2D-32FF-8CA9-7F61-7CE7D6D52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4EE11AB-8707-003A-A377-72F61FF05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4A2A315-7C57-3C05-5634-51B0B57A8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Tesztelés összegzése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403FF5F-DD8D-C1D5-1478-FE19F4B22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3E83F47-6C64-1FC4-203C-942559CC5D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974138-A044-401F-5678-EB258A7B76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06AA45E-16FD-7D3B-CDBC-4EB0EFCF5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EDD87F-C9BA-616C-CAD0-6F8C5F183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EC2F798-0E70-48BE-12C8-5D70F62649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Rectangle 3">
            <a:extLst>
              <a:ext uri="{FF2B5EF4-FFF2-40B4-BE49-F238E27FC236}">
                <a16:creationId xmlns:a16="http://schemas.microsoft.com/office/drawing/2014/main" id="{A7D00D68-D92B-548E-4CA0-F2F4A4FCA6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0451" y="2434765"/>
            <a:ext cx="9482541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Más szemszögből láthattuk egy program működését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Könnyebb volt hibákat és hiányosságokat </a:t>
            </a:r>
            <a:r>
              <a:rPr kumimoji="0" lang="hu-HU" altLang="hu-HU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észrevenni</a:t>
            </a:r>
            <a:endParaRPr kumimoji="0" lang="hu-HU" altLang="hu-HU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Rávilágított a pontos feladatleírás fontosságára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Hasznos tapasztalatot adott a dokumentáció és tesztelés terén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Segített jobban megérteni a tesztelői gondolkodásmódot</a:t>
            </a:r>
          </a:p>
        </p:txBody>
      </p:sp>
    </p:spTree>
    <p:extLst>
      <p:ext uri="{BB962C8B-B14F-4D97-AF65-F5344CB8AC3E}">
        <p14:creationId xmlns:p14="http://schemas.microsoft.com/office/powerpoint/2010/main" val="2670581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1">
                <a:tint val="97000"/>
                <a:hueMod val="92000"/>
                <a:satMod val="169000"/>
                <a:lumMod val="164000"/>
              </a:schemeClr>
            </a:gs>
            <a:gs pos="100000">
              <a:schemeClr val="bg1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4DF5B3-26C7-A967-9F77-ED3AA2493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6839835-738B-D0C2-C526-5CF29CF966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ECE804C-723B-834F-4FF8-FD46E8E7C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85244"/>
            <a:ext cx="8534400" cy="1507067"/>
          </a:xfrm>
        </p:spPr>
        <p:txBody>
          <a:bodyPr>
            <a:normAutofit/>
          </a:bodyPr>
          <a:lstStyle/>
          <a:p>
            <a:r>
              <a:rPr lang="hu-HU" dirty="0"/>
              <a:t>Projekt összegzés, tanulságok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5BBB4A1-9108-F6B7-20C3-274E3AE24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9A34DED-0B07-5541-93D3-ED826F7A97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5EC32EB-0841-17C0-BB75-9F5D5B341A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D9EC8B-08B4-AEF3-5961-C8721B82A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2D308C2-60DE-627E-5705-4D9BABEAED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F8560E-B814-755C-2FDC-3267B43C0C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2">
                  <a:lumMod val="75000"/>
                  <a:alpha val="8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2">
            <a:extLst>
              <a:ext uri="{FF2B5EF4-FFF2-40B4-BE49-F238E27FC236}">
                <a16:creationId xmlns:a16="http://schemas.microsoft.com/office/drawing/2014/main" id="{91ACD760-ABD1-C32F-1D82-5CF008C81FC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225" y="1906012"/>
            <a:ext cx="10572381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hu-HU" altLang="hu-HU" sz="3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projekt során sokat tanultunk:</a:t>
            </a:r>
          </a:p>
          <a:p>
            <a:pPr marL="457200" lvl="1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hu-HU" altLang="hu-HU" sz="2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Fontos a jó időbeosztás</a:t>
            </a:r>
          </a:p>
          <a:p>
            <a:pPr marL="457200" lvl="1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hu-HU" altLang="hu-HU" sz="2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másik csapat programjának tesztelése rávilágított a specifikáció fontosságára</a:t>
            </a:r>
          </a:p>
          <a:p>
            <a:pPr marL="457200" lvl="1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hu-HU" altLang="hu-HU" sz="24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Sok mindennek utána néztünk, ezáltal tanultunk új dolgokat</a:t>
            </a:r>
            <a:endParaRPr lang="hu-HU" altLang="hu-HU" sz="3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kumimoji="0" lang="hu-HU" altLang="hu-HU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tesztelés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során sok hibát kitudtunk szűrni még időben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kumimoji="0" lang="hu-HU" altLang="hu-HU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csapatmunka</a:t>
            </a: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megkönnyítette a feladatok elosztását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dokumentálás segített átlátni és követni a folyamatot</a:t>
            </a:r>
            <a:endParaRPr lang="hu-HU" altLang="hu-HU" sz="3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347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3567C-8D50-9C39-EFFE-7F59BD030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2E2CE94-4CE6-C5AA-811C-72C4BB9D16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D49B110-5A55-DD3C-58B7-4683CFB9DC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>
              <a:solidFill>
                <a:schemeClr val="tx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9555439"/>
      </p:ext>
    </p:extLst>
  </p:cSld>
  <p:clrMapOvr>
    <a:masterClrMapping/>
  </p:clrMapOvr>
</p:sld>
</file>

<file path=ppt/theme/theme1.xml><?xml version="1.0" encoding="utf-8"?>
<a:theme xmlns:a="http://schemas.openxmlformats.org/drawingml/2006/main" name="Szelet">
  <a:themeElements>
    <a:clrScheme name="Szürkeárnyalatos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Szele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zele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Szelet</Template>
  <TotalTime>214</TotalTime>
  <Words>548</Words>
  <Application>Microsoft Office PowerPoint</Application>
  <PresentationFormat>Szélesvásznú</PresentationFormat>
  <Paragraphs>104</Paragraphs>
  <Slides>21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21</vt:i4>
      </vt:variant>
    </vt:vector>
  </HeadingPairs>
  <TitlesOfParts>
    <vt:vector size="27" baseType="lpstr">
      <vt:lpstr>Aptos</vt:lpstr>
      <vt:lpstr>Arial</vt:lpstr>
      <vt:lpstr>Calibri</vt:lpstr>
      <vt:lpstr>Century Gothic</vt:lpstr>
      <vt:lpstr>Wingdings 3</vt:lpstr>
      <vt:lpstr>Szelet</vt:lpstr>
      <vt:lpstr>Okostöltő rendszer projektfeladat</vt:lpstr>
      <vt:lpstr>Alapötlet</vt:lpstr>
      <vt:lpstr>Rendszer célja</vt:lpstr>
      <vt:lpstr>Rendszer felépítése</vt:lpstr>
      <vt:lpstr>Kedvezmények</vt:lpstr>
      <vt:lpstr>Felhasználói bemenet</vt:lpstr>
      <vt:lpstr>Hibakezelés</vt:lpstr>
      <vt:lpstr>Statisztika és naplózás</vt:lpstr>
      <vt:lpstr>Fejlesztési környezet</vt:lpstr>
      <vt:lpstr>Munkaidő nyilvántartás</vt:lpstr>
      <vt:lpstr>Felhasználói útmutató</vt:lpstr>
      <vt:lpstr>Tesztelt program:  Bérleti szerződés      manager</vt:lpstr>
      <vt:lpstr>Tesztelt rendszer bemutatása</vt:lpstr>
      <vt:lpstr>Tesztelés célja</vt:lpstr>
      <vt:lpstr>Specifikáció felülvizsgálata</vt:lpstr>
      <vt:lpstr>Tesztelési módszerek</vt:lpstr>
      <vt:lpstr>Teszttervezési technikák</vt:lpstr>
      <vt:lpstr>Tesztelési eredmények</vt:lpstr>
      <vt:lpstr>Tesztelés összegzése</vt:lpstr>
      <vt:lpstr>Projekt összegzés, tanulságok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Kovacs Gergo Mate</dc:creator>
  <cp:lastModifiedBy>Kovacs Gergo Mate</cp:lastModifiedBy>
  <cp:revision>6</cp:revision>
  <dcterms:created xsi:type="dcterms:W3CDTF">2026-01-11T12:34:44Z</dcterms:created>
  <dcterms:modified xsi:type="dcterms:W3CDTF">2026-01-11T16:53:16Z</dcterms:modified>
</cp:coreProperties>
</file>